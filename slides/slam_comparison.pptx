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126" d="100"/>
          <a:sy n="126" d="100"/>
        </p:scale>
        <p:origin x="306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08.10.2026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of four. Each member evaluated one SLAM system of their choice on the same dataset with the same metrics.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E4289-A74F-4222-9B90-D9BDCFD3E1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3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DFD694-E6DB-66A4-0BFA-28C02B77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Comparing SLAM Systems Across Sensor Modalities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F520F1-A0E4-F0BA-8658-E000B61F9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de-DE" sz="1300"/>
              <a:t>Elias Bitsch, Philip Stix, Viktoriia Ovdiienko, Jiayi Zhou</a:t>
            </a:r>
          </a:p>
          <a:p>
            <a:r>
              <a:rPr lang="de-DE" sz="1300"/>
              <a:t>Einsatz Autonomer Robotersysteme Lab, WS 2026/27</a:t>
            </a:r>
          </a:p>
        </p:txBody>
      </p:sp>
    </p:spTree>
    <p:extLst>
      <p:ext uri="{BB962C8B-B14F-4D97-AF65-F5344CB8AC3E}">
        <p14:creationId xmlns:p14="http://schemas.microsoft.com/office/powerpoint/2010/main" val="56452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CE0D00-4641-03E4-CD03-B0BC1B53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Task and approach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A8768F-2E6D-9DC9-D300-031D986B82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76C72B-25D0-63FB-F683-48D64598BA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F0CCC96-1508-2551-B0FE-04BD9B9F649F}"/>
              </a:ext>
            </a:extLst>
          </p:cNvPr>
          <p:cNvSpPr/>
          <p:nvPr/>
        </p:nvSpPr>
        <p:spPr>
          <a:xfrm>
            <a:off x="177800" y="889000"/>
            <a:ext cx="558800" cy="5588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103CF62-A051-5F1A-E5C4-BA731F32DE55}"/>
              </a:ext>
            </a:extLst>
          </p:cNvPr>
          <p:cNvSpPr txBox="1"/>
          <p:nvPr/>
        </p:nvSpPr>
        <p:spPr>
          <a:xfrm>
            <a:off x="177800" y="1600200"/>
            <a:ext cx="2794000" cy="3810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algn="l"/>
            <a:r>
              <a:rPr lang="de-DE" b="1"/>
              <a:t>Shared dataset</a:t>
            </a:r>
            <a:endParaRPr lang="de-DE" b="1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F4F5E21-7562-FED0-980C-03445DA88E43}"/>
              </a:ext>
            </a:extLst>
          </p:cNvPr>
          <p:cNvSpPr txBox="1"/>
          <p:nvPr/>
        </p:nvSpPr>
        <p:spPr>
          <a:xfrm>
            <a:off x="177800" y="2032000"/>
            <a:ext cx="2794000" cy="1143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400"/>
              <a:t>M3DGR ground robot, 3 indoor sequences with motion-capture ground truth</a:t>
            </a:r>
            <a:endParaRPr lang="de-DE" sz="14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8949066-CA59-27BA-0A2F-602FF34BD043}"/>
              </a:ext>
            </a:extLst>
          </p:cNvPr>
          <p:cNvSpPr/>
          <p:nvPr/>
        </p:nvSpPr>
        <p:spPr>
          <a:xfrm>
            <a:off x="3168650" y="889000"/>
            <a:ext cx="558800" cy="5588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11F89B0-95A6-F360-B217-C7F5209506B1}"/>
              </a:ext>
            </a:extLst>
          </p:cNvPr>
          <p:cNvSpPr txBox="1"/>
          <p:nvPr/>
        </p:nvSpPr>
        <p:spPr>
          <a:xfrm>
            <a:off x="3168650" y="1600200"/>
            <a:ext cx="2794000" cy="3810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algn="l"/>
            <a:r>
              <a:rPr lang="de-DE" b="1"/>
              <a:t>Own SLAM system</a:t>
            </a:r>
            <a:endParaRPr lang="de-DE" b="1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137718A-E459-3700-5315-FACE410A0371}"/>
              </a:ext>
            </a:extLst>
          </p:cNvPr>
          <p:cNvSpPr txBox="1"/>
          <p:nvPr/>
        </p:nvSpPr>
        <p:spPr>
          <a:xfrm>
            <a:off x="3168650" y="2032000"/>
            <a:ext cx="2794000" cy="1143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400"/>
              <a:t>One per member, freely chosen, ideally a different sensor modality or paradigm each</a:t>
            </a:r>
            <a:endParaRPr lang="de-DE" sz="140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85404BE-CC3B-37CD-8E4C-965E19ED08A0}"/>
              </a:ext>
            </a:extLst>
          </p:cNvPr>
          <p:cNvSpPr/>
          <p:nvPr/>
        </p:nvSpPr>
        <p:spPr>
          <a:xfrm>
            <a:off x="6159500" y="889000"/>
            <a:ext cx="558800" cy="5588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D3EF61C-6253-C672-CFAA-3057E16B3AF1}"/>
              </a:ext>
            </a:extLst>
          </p:cNvPr>
          <p:cNvSpPr txBox="1"/>
          <p:nvPr/>
        </p:nvSpPr>
        <p:spPr>
          <a:xfrm>
            <a:off x="6159500" y="1600200"/>
            <a:ext cx="2794000" cy="38100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pPr algn="l"/>
            <a:r>
              <a:rPr lang="de-DE" b="1"/>
              <a:t>Same metrics</a:t>
            </a:r>
            <a:endParaRPr lang="de-DE" b="1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4682319-A9F2-31EE-C62B-6A038672D0F8}"/>
              </a:ext>
            </a:extLst>
          </p:cNvPr>
          <p:cNvSpPr txBox="1"/>
          <p:nvPr/>
        </p:nvSpPr>
        <p:spPr>
          <a:xfrm>
            <a:off x="6159500" y="2032000"/>
            <a:ext cx="2794000" cy="1143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400"/>
              <a:t>ATE and RPE with evo, N runs per system, one central evaluation pipeline</a:t>
            </a:r>
            <a:endParaRPr lang="de-DE" sz="1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703C2CB-8916-BE3F-1530-C7A64F13F30F}"/>
              </a:ext>
            </a:extLst>
          </p:cNvPr>
          <p:cNvSpPr txBox="1"/>
          <p:nvPr/>
        </p:nvSpPr>
        <p:spPr>
          <a:xfrm>
            <a:off x="177800" y="3556000"/>
            <a:ext cx="87757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400" i="1"/>
              <a:t>Research question: how do SLAM systems with different sensor modalities compare in accuracy and robustness on the same ground robot, and which failure modes explain the differences?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54924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515D8-A3DC-F6CD-D282-90CC6F9F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Dataset: M3DGR (IROS 2025)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314EE4-DFAF-C791-DE0A-7DB9FE9D15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sz="1600"/>
              <a:t>Differential-drive ground robot</a:t>
            </a:r>
          </a:p>
          <a:p>
            <a:r>
              <a:rPr lang="de-DE" sz="1600"/>
              <a:t>Sensors</a:t>
            </a:r>
          </a:p>
          <a:p>
            <a:pPr lvl="1"/>
            <a:r>
              <a:rPr lang="de-DE" sz="1400"/>
              <a:t>Livox MID-360 and Avia 3D LiDAR</a:t>
            </a:r>
          </a:p>
          <a:p>
            <a:pPr lvl="1"/>
            <a:r>
              <a:rPr lang="de-DE" sz="1400"/>
              <a:t>RealSense D435i RGB-D with IMU</a:t>
            </a:r>
          </a:p>
          <a:p>
            <a:pPr lvl="1"/>
            <a:r>
              <a:rPr lang="de-DE" sz="1400"/>
              <a:t>Wheel odometry (20 Hz)</a:t>
            </a:r>
          </a:p>
          <a:p>
            <a:r>
              <a:rPr lang="de-DE" sz="1600"/>
              <a:t>Ground truth: OptiTrack motion capture</a:t>
            </a:r>
          </a:p>
          <a:p>
            <a:r>
              <a:rPr lang="de-DE" sz="1600"/>
              <a:t>MIT license, ROS 1 bags, about 2 GB per sequence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53536E-9C7A-467E-9C7B-1D424C50673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2FAF0-596D-7DD8-A2B9-40304351C2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3</a:t>
            </a:fld>
            <a:endParaRPr lang="en-GB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96044A24-41D9-FEA0-3CB9-0289B07DB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184386"/>
              </p:ext>
            </p:extLst>
          </p:nvPr>
        </p:nvGraphicFramePr>
        <p:xfrm>
          <a:off x="4648200" y="762000"/>
          <a:ext cx="4318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401779502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0751779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2805649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de-DE" sz="1400" b="1"/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Difficulty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Challenge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51003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de-DE" sz="1400"/>
                        <a:t>Varying-illu01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nominal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51981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de-DE" sz="1400"/>
                        <a:t>Dynamic01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moving people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55379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de-DE" sz="1400"/>
                        <a:t>Dark03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hard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darkness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807745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D83D937E-EE07-D7D2-BB7C-1BDE73CA0D5E}"/>
              </a:ext>
            </a:extLst>
          </p:cNvPr>
          <p:cNvSpPr txBox="1"/>
          <p:nvPr/>
        </p:nvSpPr>
        <p:spPr>
          <a:xfrm>
            <a:off x="4648200" y="2921000"/>
            <a:ext cx="43180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200"/>
              <a:t>Hard cases are chosen so that each sensor modality fails differently: cameras need light, LiDAR needs geometry, odometry needs traction.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26362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FE742-B20F-00FE-32A5-FC1D07353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Evaluated SLAM systems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06E6FE-8C64-011A-FB25-A287072E54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DE98B0-F685-ADF3-9A4A-6AEABFE137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4</a:t>
            </a:fld>
            <a:endParaRPr lang="en-GB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34FA9AB-7B1D-04D6-EB0D-C0C185D7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889568"/>
              </p:ext>
            </p:extLst>
          </p:nvPr>
        </p:nvGraphicFramePr>
        <p:xfrm>
          <a:off x="177800" y="762000"/>
          <a:ext cx="87757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20715259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8093846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570405248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2110998708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2818492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de-DE" sz="1400" b="1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SLAM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Paradigm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Loop closure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6057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de-DE" sz="1400"/>
                        <a:t>Elias Bitsch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MASt3R-SLAM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monocular 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3D foundation model,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4019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de-DE" sz="1400"/>
                        <a:t>Philip Stix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[system]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[sensors]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[paradigm]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[yes/no]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3591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de-DE" sz="1400"/>
                        <a:t>Viktoriia Ovdiienko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[system]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[sensors]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[paradigm]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[yes/no]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68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de-DE" sz="1400"/>
                        <a:t>Jiayi Zhou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[system]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[sensors]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[paradigm]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[yes/no]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00810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A3BE05CB-BE22-2C4A-B524-0E6FFBE37DF7}"/>
              </a:ext>
            </a:extLst>
          </p:cNvPr>
          <p:cNvSpPr txBox="1"/>
          <p:nvPr/>
        </p:nvSpPr>
        <p:spPr>
          <a:xfrm>
            <a:off x="177800" y="3683000"/>
            <a:ext cx="8775700" cy="635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400"/>
              <a:t>All systems run with the authors' default parameters; only calibration and topic names are adapted.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13636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9C7DE-B368-7C64-1B8C-BFB3C1DD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Evaluation methodology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C4514C-2B87-F0AF-10AF-D66A7ACAEB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sz="1600"/>
              <a:t>Standard metrics only</a:t>
            </a:r>
          </a:p>
          <a:p>
            <a:pPr lvl="1"/>
            <a:r>
              <a:rPr lang="de-DE" sz="1400"/>
              <a:t>ATE: absolute trajectory error, RMSE (Sturm et al. 2012)</a:t>
            </a:r>
          </a:p>
          <a:p>
            <a:pPr lvl="1"/>
            <a:r>
              <a:rPr lang="de-DE" sz="1400"/>
              <a:t>RPE: relative pose error per metre (Sturm 2012, Kümmerle 2009)</a:t>
            </a:r>
          </a:p>
          <a:p>
            <a:pPr lvl="1"/>
            <a:r>
              <a:rPr lang="de-DE" sz="1400"/>
              <a:t>Robustness: success rate, tracked fraction</a:t>
            </a:r>
          </a:p>
          <a:p>
            <a:r>
              <a:rPr lang="de-DE" sz="1600"/>
              <a:t>Umeyama alignment (Zhang and Scaramuzza 2018)</a:t>
            </a:r>
          </a:p>
          <a:p>
            <a:pPr lvl="1"/>
            <a:r>
              <a:rPr lang="de-DE" sz="1400"/>
              <a:t>SE(3) for metric systems</a:t>
            </a:r>
          </a:p>
          <a:p>
            <a:pPr lvl="1"/>
            <a:r>
              <a:rPr lang="de-DE" sz="1400"/>
              <a:t>Sim(3) for monocular systems, scale reported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B7527D-5F22-4136-5C2A-4EF62F4131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600"/>
              <a:t>Protocol</a:t>
            </a:r>
          </a:p>
          <a:p>
            <a:pPr lvl="1"/>
            <a:r>
              <a:rPr lang="en-US" sz="1400"/>
              <a:t>N = 5 runs per system and sequence</a:t>
            </a:r>
          </a:p>
          <a:p>
            <a:pPr lvl="1"/>
            <a:r>
              <a:rPr lang="en-US" sz="1400"/>
              <a:t>Median and IQR, failures reported</a:t>
            </a:r>
          </a:p>
          <a:p>
            <a:pPr lvl="1"/>
            <a:r>
              <a:rPr lang="en-US" sz="1400"/>
              <a:t>Offline processing: every frame is used</a:t>
            </a:r>
          </a:p>
          <a:p>
            <a:r>
              <a:rPr lang="en-US" sz="1600"/>
              <a:t>Resources as context only</a:t>
            </a:r>
          </a:p>
          <a:p>
            <a:pPr lvl="1"/>
            <a:r>
              <a:rPr lang="en-US" sz="1400"/>
              <a:t>CPU, RAM, GPU memory, runtime</a:t>
            </a:r>
          </a:p>
          <a:p>
            <a:pPr lvl="1"/>
            <a:r>
              <a:rPr lang="en-US" sz="1400"/>
              <a:t>Always stated with the hardware</a:t>
            </a:r>
            <a:endParaRPr lang="de-DE" sz="140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6533B7-F170-E236-F990-7006274641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D05EDB-5A80-B85A-B0AC-FB61F015D4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26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C234A-B015-8181-3FCA-3798C1C85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Automated evaluation pipeline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9DBC1B-322C-413F-8EDC-A2E5461002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FF5D68-AB8A-5AEB-5D27-4D38E3532B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Pfeil: Fünfeck 5">
            <a:extLst>
              <a:ext uri="{FF2B5EF4-FFF2-40B4-BE49-F238E27FC236}">
                <a16:creationId xmlns:a16="http://schemas.microsoft.com/office/drawing/2014/main" id="{719F2C91-68EC-6A1F-E530-145E2CBF40A0}"/>
              </a:ext>
            </a:extLst>
          </p:cNvPr>
          <p:cNvSpPr/>
          <p:nvPr/>
        </p:nvSpPr>
        <p:spPr>
          <a:xfrm>
            <a:off x="177800" y="1143000"/>
            <a:ext cx="1625600" cy="762000"/>
          </a:xfrm>
          <a:prstGeom prst="homePlate">
            <a:avLst>
              <a:gd name="adj" fmla="val 35000"/>
            </a:avLst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79D68C-0C70-7141-AFFC-65FA3CE51494}"/>
              </a:ext>
            </a:extLst>
          </p:cNvPr>
          <p:cNvSpPr txBox="1"/>
          <p:nvPr/>
        </p:nvSpPr>
        <p:spPr>
          <a:xfrm>
            <a:off x="177800" y="2057400"/>
            <a:ext cx="16256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200"/>
              <a:t>M3DGR sequences, ground truth in TUM format</a:t>
            </a:r>
            <a:endParaRPr lang="de-DE" sz="1200" dirty="0"/>
          </a:p>
        </p:txBody>
      </p:sp>
      <p:sp>
        <p:nvSpPr>
          <p:cNvPr id="8" name="Pfeil: Chevron 7">
            <a:extLst>
              <a:ext uri="{FF2B5EF4-FFF2-40B4-BE49-F238E27FC236}">
                <a16:creationId xmlns:a16="http://schemas.microsoft.com/office/drawing/2014/main" id="{CDDF9ECA-6865-1977-7A13-7D8104ECCFA6}"/>
              </a:ext>
            </a:extLst>
          </p:cNvPr>
          <p:cNvSpPr/>
          <p:nvPr/>
        </p:nvSpPr>
        <p:spPr>
          <a:xfrm>
            <a:off x="1965325" y="1143000"/>
            <a:ext cx="1625600" cy="762000"/>
          </a:xfrm>
          <a:prstGeom prst="chevron">
            <a:avLst>
              <a:gd name="adj" fmla="val 35000"/>
            </a:avLst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</a:rPr>
              <a:t>Runners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785BD7-9B40-38FF-61B0-FF3315046C0A}"/>
              </a:ext>
            </a:extLst>
          </p:cNvPr>
          <p:cNvSpPr txBox="1"/>
          <p:nvPr/>
        </p:nvSpPr>
        <p:spPr>
          <a:xfrm>
            <a:off x="1965325" y="2057400"/>
            <a:ext cx="16256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200"/>
              <a:t>one per system, any machine, container or ROS</a:t>
            </a:r>
            <a:endParaRPr lang="de-DE" sz="1200" dirty="0"/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81431FA2-4278-3E9E-591A-A0D50CB31DAE}"/>
              </a:ext>
            </a:extLst>
          </p:cNvPr>
          <p:cNvSpPr/>
          <p:nvPr/>
        </p:nvSpPr>
        <p:spPr>
          <a:xfrm>
            <a:off x="3752850" y="1143000"/>
            <a:ext cx="1625600" cy="762000"/>
          </a:xfrm>
          <a:prstGeom prst="chevron">
            <a:avLst>
              <a:gd name="adj" fmla="val 35000"/>
            </a:avLst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356C0EE-2EAF-388A-5FCD-63F5DBEADE15}"/>
              </a:ext>
            </a:extLst>
          </p:cNvPr>
          <p:cNvSpPr txBox="1"/>
          <p:nvPr/>
        </p:nvSpPr>
        <p:spPr>
          <a:xfrm>
            <a:off x="3752850" y="2057400"/>
            <a:ext cx="16256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200"/>
              <a:t>trajectory, map, resources and metadata per run</a:t>
            </a:r>
            <a:endParaRPr lang="de-DE" sz="1200" dirty="0"/>
          </a:p>
        </p:txBody>
      </p:sp>
      <p:sp>
        <p:nvSpPr>
          <p:cNvPr id="12" name="Pfeil: Chevron 11">
            <a:extLst>
              <a:ext uri="{FF2B5EF4-FFF2-40B4-BE49-F238E27FC236}">
                <a16:creationId xmlns:a16="http://schemas.microsoft.com/office/drawing/2014/main" id="{AF568826-AD1E-B776-0862-DCCFC8DCDCF5}"/>
              </a:ext>
            </a:extLst>
          </p:cNvPr>
          <p:cNvSpPr/>
          <p:nvPr/>
        </p:nvSpPr>
        <p:spPr>
          <a:xfrm>
            <a:off x="5540375" y="1143000"/>
            <a:ext cx="1625600" cy="762000"/>
          </a:xfrm>
          <a:prstGeom prst="chevron">
            <a:avLst>
              <a:gd name="adj" fmla="val 35000"/>
            </a:avLst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1718642-41AA-AB84-C770-430DCFD6B4F9}"/>
              </a:ext>
            </a:extLst>
          </p:cNvPr>
          <p:cNvSpPr txBox="1"/>
          <p:nvPr/>
        </p:nvSpPr>
        <p:spPr>
          <a:xfrm>
            <a:off x="5540375" y="2057400"/>
            <a:ext cx="16256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200"/>
              <a:t>evaluate.py with evo: ATE, RPE, robustness</a:t>
            </a:r>
            <a:endParaRPr lang="de-DE" sz="1200" dirty="0"/>
          </a:p>
        </p:txBody>
      </p:sp>
      <p:sp>
        <p:nvSpPr>
          <p:cNvPr id="14" name="Pfeil: Chevron 13">
            <a:extLst>
              <a:ext uri="{FF2B5EF4-FFF2-40B4-BE49-F238E27FC236}">
                <a16:creationId xmlns:a16="http://schemas.microsoft.com/office/drawing/2014/main" id="{413F3D9B-4361-727B-2BE2-A28D3061679E}"/>
              </a:ext>
            </a:extLst>
          </p:cNvPr>
          <p:cNvSpPr/>
          <p:nvPr/>
        </p:nvSpPr>
        <p:spPr>
          <a:xfrm>
            <a:off x="7327900" y="1143000"/>
            <a:ext cx="1625600" cy="762000"/>
          </a:xfrm>
          <a:prstGeom prst="chevron">
            <a:avLst>
              <a:gd name="adj" fmla="val 35000"/>
            </a:avLst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00" rIns="25400" rtlCol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</a:rPr>
              <a:t>Figures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E377FE5-4B7C-5530-F1A7-6396D882E707}"/>
              </a:ext>
            </a:extLst>
          </p:cNvPr>
          <p:cNvSpPr txBox="1"/>
          <p:nvPr/>
        </p:nvSpPr>
        <p:spPr>
          <a:xfrm>
            <a:off x="7327900" y="2057400"/>
            <a:ext cx="16256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200"/>
              <a:t>notebooks create the paper figures and tables</a:t>
            </a:r>
            <a:endParaRPr lang="de-DE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D489ACB-7411-339F-F5D1-47AC32B885C8}"/>
              </a:ext>
            </a:extLst>
          </p:cNvPr>
          <p:cNvSpPr txBox="1"/>
          <p:nvPr/>
        </p:nvSpPr>
        <p:spPr>
          <a:xfrm>
            <a:off x="177800" y="3302000"/>
            <a:ext cx="8775700" cy="889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400"/>
              <a:t>One command reproduces all figures from the raw results.</a:t>
            </a:r>
          </a:p>
          <a:p>
            <a:pPr algn="l"/>
            <a:r>
              <a:rPr lang="en-US" sz="1400"/>
              <a:t>Every run stores the system version, parameters and hardware.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77302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3AEA4-B378-5546-AB65-A7384947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Timeline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2587A2-5B8C-9E68-DA41-AF6695A8890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9808E1-735B-7AEF-06C7-91E626FB61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7</a:t>
            </a:fld>
            <a:endParaRPr lang="en-GB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7B91C136-7173-1F17-4FC1-E411350AFD2B}"/>
              </a:ext>
            </a:extLst>
          </p:cNvPr>
          <p:cNvCxnSpPr/>
          <p:nvPr/>
        </p:nvCxnSpPr>
        <p:spPr>
          <a:xfrm>
            <a:off x="381000" y="1397000"/>
            <a:ext cx="8382000" cy="0"/>
          </a:xfrm>
          <a:prstGeom prst="line">
            <a:avLst/>
          </a:prstGeom>
          <a:ln w="254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A7BC2335-C00D-45F3-C720-8C098E2F0B6B}"/>
              </a:ext>
            </a:extLst>
          </p:cNvPr>
          <p:cNvSpPr/>
          <p:nvPr/>
        </p:nvSpPr>
        <p:spPr>
          <a:xfrm>
            <a:off x="863600" y="1270000"/>
            <a:ext cx="254000" cy="2540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9C4136A-6F1C-1A48-F77C-2EDE9B4807EC}"/>
              </a:ext>
            </a:extLst>
          </p:cNvPr>
          <p:cNvSpPr txBox="1"/>
          <p:nvPr/>
        </p:nvSpPr>
        <p:spPr>
          <a:xfrm>
            <a:off x="177800" y="1651000"/>
            <a:ext cx="1625600" cy="330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de-DE" sz="1600" b="1"/>
              <a:t>Lab 1</a:t>
            </a:r>
            <a:endParaRPr lang="de-DE" sz="1600" b="1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FC3CB8D-1936-7368-F740-88720144169D}"/>
              </a:ext>
            </a:extLst>
          </p:cNvPr>
          <p:cNvSpPr txBox="1"/>
          <p:nvPr/>
        </p:nvSpPr>
        <p:spPr>
          <a:xfrm>
            <a:off x="177800" y="2032000"/>
            <a:ext cx="1625600" cy="12700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US" sz="1200"/>
              <a:t>Dataset plays back, ground truth in TUM format, system chosen</a:t>
            </a:r>
            <a:endParaRPr lang="de-DE" sz="1200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F120B31-B69C-54B6-BA10-1C17F70A86D5}"/>
              </a:ext>
            </a:extLst>
          </p:cNvPr>
          <p:cNvSpPr/>
          <p:nvPr/>
        </p:nvSpPr>
        <p:spPr>
          <a:xfrm>
            <a:off x="2651125" y="1270000"/>
            <a:ext cx="254000" cy="2540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C269980-3DDD-CE1C-7654-FBDEC88DBD66}"/>
              </a:ext>
            </a:extLst>
          </p:cNvPr>
          <p:cNvSpPr txBox="1"/>
          <p:nvPr/>
        </p:nvSpPr>
        <p:spPr>
          <a:xfrm>
            <a:off x="1965325" y="1651000"/>
            <a:ext cx="1625600" cy="330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de-DE" sz="1600" b="1"/>
              <a:t>Lab 2</a:t>
            </a:r>
            <a:endParaRPr lang="de-DE" sz="16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1717CE7-47D9-2EC3-2145-079459D4FFFB}"/>
              </a:ext>
            </a:extLst>
          </p:cNvPr>
          <p:cNvSpPr txBox="1"/>
          <p:nvPr/>
        </p:nvSpPr>
        <p:spPr>
          <a:xfrm>
            <a:off x="1965325" y="2032000"/>
            <a:ext cx="1625600" cy="12700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US" sz="1200"/>
              <a:t>Each runner produces a trajectory and a map for one sequence</a:t>
            </a:r>
            <a:endParaRPr lang="de-DE" sz="1200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0616BCD8-2922-1662-7196-3B609072D819}"/>
              </a:ext>
            </a:extLst>
          </p:cNvPr>
          <p:cNvSpPr/>
          <p:nvPr/>
        </p:nvSpPr>
        <p:spPr>
          <a:xfrm>
            <a:off x="4438650" y="1270000"/>
            <a:ext cx="254000" cy="2540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9857E23-778C-2DED-94EA-0D3915F820D3}"/>
              </a:ext>
            </a:extLst>
          </p:cNvPr>
          <p:cNvSpPr txBox="1"/>
          <p:nvPr/>
        </p:nvSpPr>
        <p:spPr>
          <a:xfrm>
            <a:off x="3752850" y="1651000"/>
            <a:ext cx="1625600" cy="330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de-DE" sz="1600" b="1"/>
              <a:t>Lab 3</a:t>
            </a:r>
            <a:endParaRPr lang="de-DE" sz="1600" b="1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B3BFA45-5249-8C78-E9DF-26BF5A0C4C9D}"/>
              </a:ext>
            </a:extLst>
          </p:cNvPr>
          <p:cNvSpPr txBox="1"/>
          <p:nvPr/>
        </p:nvSpPr>
        <p:spPr>
          <a:xfrm>
            <a:off x="3752850" y="2032000"/>
            <a:ext cx="1625600" cy="12700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US" sz="1200"/>
              <a:t>All runs done, notebooks produce the figures</a:t>
            </a:r>
            <a:endParaRPr lang="de-DE" sz="1200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C070BEB-CE0C-E3EB-6170-CF7D977AF107}"/>
              </a:ext>
            </a:extLst>
          </p:cNvPr>
          <p:cNvSpPr/>
          <p:nvPr/>
        </p:nvSpPr>
        <p:spPr>
          <a:xfrm>
            <a:off x="6226175" y="1270000"/>
            <a:ext cx="254000" cy="2540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E5CDD28-05E2-A90C-DB16-9E65CA3A525C}"/>
              </a:ext>
            </a:extLst>
          </p:cNvPr>
          <p:cNvSpPr txBox="1"/>
          <p:nvPr/>
        </p:nvSpPr>
        <p:spPr>
          <a:xfrm>
            <a:off x="5540375" y="1651000"/>
            <a:ext cx="1625600" cy="330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de-DE" sz="1600" b="1"/>
              <a:t>Lab 4</a:t>
            </a:r>
            <a:endParaRPr lang="de-DE" sz="1600" b="1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41C145F-08F4-0659-6103-A2D85240A5FA}"/>
              </a:ext>
            </a:extLst>
          </p:cNvPr>
          <p:cNvSpPr txBox="1"/>
          <p:nvPr/>
        </p:nvSpPr>
        <p:spPr>
          <a:xfrm>
            <a:off x="5540375" y="2032000"/>
            <a:ext cx="1625600" cy="12700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US" sz="1200"/>
              <a:t>Full paper draft, discussion of failure modes</a:t>
            </a:r>
            <a:endParaRPr lang="de-DE" sz="1200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1C4CA9A-3A4C-27D2-A0C7-456A9C6DAC6F}"/>
              </a:ext>
            </a:extLst>
          </p:cNvPr>
          <p:cNvSpPr/>
          <p:nvPr/>
        </p:nvSpPr>
        <p:spPr>
          <a:xfrm>
            <a:off x="8013700" y="1270000"/>
            <a:ext cx="254000" cy="254000"/>
          </a:xfrm>
          <a:prstGeom prst="ellipse">
            <a:avLst/>
          </a:prstGeom>
          <a:solidFill>
            <a:srgbClr val="0063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14A2CE8-3B20-73A3-21A0-F13CDD5133BA}"/>
              </a:ext>
            </a:extLst>
          </p:cNvPr>
          <p:cNvSpPr txBox="1"/>
          <p:nvPr/>
        </p:nvSpPr>
        <p:spPr>
          <a:xfrm>
            <a:off x="7327900" y="1651000"/>
            <a:ext cx="1625600" cy="3302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de-DE" sz="1600" b="1"/>
              <a:t>Final</a:t>
            </a:r>
            <a:endParaRPr lang="de-DE" sz="1600" b="1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CACD118-0890-BBA4-5706-B2FC03BED61C}"/>
              </a:ext>
            </a:extLst>
          </p:cNvPr>
          <p:cNvSpPr txBox="1"/>
          <p:nvPr/>
        </p:nvSpPr>
        <p:spPr>
          <a:xfrm>
            <a:off x="7327900" y="2032000"/>
            <a:ext cx="1625600" cy="12700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US" sz="1200"/>
              <a:t>Presentation, paper and repository submitted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897137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A74EA-A109-EA83-8C88-9CA5EDEF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Results: trajectories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2946B3-E3E2-48C3-8A3B-3D7007FA90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61000" y="607500"/>
            <a:ext cx="3505200" cy="4050000"/>
          </a:xfrm>
        </p:spPr>
        <p:txBody>
          <a:bodyPr/>
          <a:lstStyle/>
          <a:p>
            <a:r>
              <a:rPr lang="de-DE" sz="1600"/>
              <a:t>Key observations</a:t>
            </a:r>
          </a:p>
          <a:p>
            <a:pPr lvl="1"/>
            <a:r>
              <a:rPr lang="de-DE" sz="1400"/>
              <a:t>[observation 1]</a:t>
            </a:r>
          </a:p>
          <a:p>
            <a:pPr lvl="1"/>
            <a:r>
              <a:rPr lang="de-DE" sz="1400"/>
              <a:t>[observation 2]</a:t>
            </a:r>
          </a:p>
          <a:p>
            <a:pPr lvl="1"/>
            <a:r>
              <a:rPr lang="de-DE" sz="1400"/>
              <a:t>[observation 3]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6748D-86D2-0E29-06D8-D79191BD63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45D58-4C57-A50E-23DF-388B959875F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29DC243-214E-6FBF-86A9-3C6712F60B52}"/>
              </a:ext>
            </a:extLst>
          </p:cNvPr>
          <p:cNvSpPr/>
          <p:nvPr/>
        </p:nvSpPr>
        <p:spPr>
          <a:xfrm>
            <a:off x="177800" y="711200"/>
            <a:ext cx="5080000" cy="381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Ins="101600" rtlCol="0" anchor="ctr"/>
          <a:lstStyle/>
          <a:p>
            <a:pPr algn="ctr"/>
            <a:r>
              <a:rPr lang="en-US" sz="1400">
                <a:solidFill>
                  <a:srgbClr val="262626"/>
                </a:solidFill>
              </a:rPr>
              <a:t>[Trajectory overlay of all systems and ground truth]</a:t>
            </a:r>
          </a:p>
          <a:p>
            <a:pPr algn="ctr"/>
            <a:r>
              <a:rPr lang="en-US" sz="1400">
                <a:solidFill>
                  <a:srgbClr val="262626"/>
                </a:solidFill>
              </a:rPr>
              <a:t>paper/figures/trajectory_overlay.pdf</a:t>
            </a:r>
            <a:endParaRPr lang="de-DE" sz="140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234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5458C-D4C2-4DF1-E618-1E345F84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Results: accuracy and robustness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E39C9A-804A-74B0-3668-5BDF916E58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0AED13-C742-B025-D4E2-E02ADCBF89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9</a:t>
            </a:fld>
            <a:endParaRPr lang="en-GB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AEB8A19-F44B-6F33-AF53-952532337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148949"/>
              </p:ext>
            </p:extLst>
          </p:nvPr>
        </p:nvGraphicFramePr>
        <p:xfrm>
          <a:off x="177800" y="762000"/>
          <a:ext cx="87757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336541140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74932425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28185740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03868021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33164606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de-DE" sz="1400" b="1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Varying-illu01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Dynamic01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Dark03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1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17781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de-DE" sz="1400"/>
                        <a:t>MASt3R-SLAM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 /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10078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de-DE" sz="1400"/>
                        <a:t>[system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 /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72596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de-DE" sz="1400"/>
                        <a:t>[system 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 /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82037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de-DE" sz="1400"/>
                        <a:t>[system 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/>
                        <a:t>- /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925243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E593F485-81D2-B3C1-490D-5D6E3202499F}"/>
              </a:ext>
            </a:extLst>
          </p:cNvPr>
          <p:cNvSpPr txBox="1"/>
          <p:nvPr/>
        </p:nvSpPr>
        <p:spPr>
          <a:xfrm>
            <a:off x="177800" y="3429000"/>
            <a:ext cx="8775700" cy="762000"/>
          </a:xfrm>
          <a:prstGeom prst="rect">
            <a:avLst/>
          </a:prstGeom>
        </p:spPr>
        <p:txBody>
          <a:bodyPr vert="horz" wrap="square" lIns="0" tIns="45720" rIns="91440" bIns="45720" rtlCol="0" anchor="t">
            <a:normAutofit/>
          </a:bodyPr>
          <a:lstStyle/>
          <a:p>
            <a:pPr algn="l"/>
            <a:r>
              <a:rPr lang="en-US" sz="1200"/>
              <a:t>ATE RMSE in metres, median (IQR) over N = 5 runs. Generated by notebooks/02_trajectories.ipynb.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37862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59FAE-DDEB-2188-9C4C-7FC1FEA5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Discussion and limitations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956FE8-58A4-A851-8B30-DAA262E5E7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600"/>
              <a:t>Failure modes and theory</a:t>
            </a:r>
          </a:p>
          <a:p>
            <a:pPr lvl="1"/>
            <a:r>
              <a:rPr lang="en-US" sz="1400"/>
              <a:t>Monocular: scale is unobservable</a:t>
            </a:r>
          </a:p>
          <a:p>
            <a:pPr lvl="1"/>
            <a:r>
              <a:rPr lang="en-US" sz="1400"/>
              <a:t>Darkness: visual features vanish</a:t>
            </a:r>
          </a:p>
          <a:p>
            <a:pPr lvl="1"/>
            <a:r>
              <a:rPr lang="en-US" sz="1400"/>
              <a:t>Without loop closure: drift accumulates</a:t>
            </a:r>
          </a:p>
          <a:p>
            <a:pPr lvl="1"/>
            <a:r>
              <a:rPr lang="en-US" sz="1400"/>
              <a:t>[findings per system]</a:t>
            </a:r>
            <a:endParaRPr lang="de-DE" sz="140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A03A07-D672-4840-6E38-69170B6DFE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sz="1600"/>
              <a:t>Limitations</a:t>
            </a:r>
          </a:p>
          <a:p>
            <a:pPr lvl="1"/>
            <a:r>
              <a:rPr lang="de-DE" sz="1400"/>
              <a:t>Software-synchronised sensors, rolling shutter</a:t>
            </a:r>
          </a:p>
          <a:p>
            <a:pPr lvl="1"/>
            <a:r>
              <a:rPr lang="de-DE" sz="1400"/>
              <a:t>Default parameters only</a:t>
            </a:r>
          </a:p>
          <a:p>
            <a:pPr lvl="1"/>
            <a:r>
              <a:rPr lang="de-DE" sz="1400"/>
              <a:t>Small number of runs</a:t>
            </a:r>
          </a:p>
          <a:p>
            <a:pPr lvl="1"/>
            <a:r>
              <a:rPr lang="de-DE" sz="1400"/>
              <a:t>Different hardware per system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D147C4-26F3-2D52-C0A6-BD689F6C74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SLAM Comparison | Bitsch, Stix, Ovdiienko, Zhou | WS 2026/27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498130-5DA2-7097-455E-42B1BEE2D1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596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CB143-A373-E70A-EE9F-5D0AC8E3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Thank you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239A8D-7D82-7B93-6D3C-EA9281455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Questions? Code and results: github.com/eliasbitsch/bEARL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7969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fhtw</Template>
  <TotalTime>0</TotalTime>
  <Words>829</Words>
  <Application>Microsoft Office PowerPoint</Application>
  <PresentationFormat>Bildschirmpräsentation (16:9)</PresentationFormat>
  <Paragraphs>168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Symbol</vt:lpstr>
      <vt:lpstr>Office</vt:lpstr>
      <vt:lpstr>Comparing SLAM Systems Across Sensor Modalities</vt:lpstr>
      <vt:lpstr>Task and approach</vt:lpstr>
      <vt:lpstr>Dataset: M3DGR (IROS 2025)</vt:lpstr>
      <vt:lpstr>Evaluated SLAM systems</vt:lpstr>
      <vt:lpstr>Evaluation methodology</vt:lpstr>
      <vt:lpstr>Automated evaluation pipeline</vt:lpstr>
      <vt:lpstr>Timeline</vt:lpstr>
      <vt:lpstr>Results: trajectories</vt:lpstr>
      <vt:lpstr>Results: accuracy and robustness</vt:lpstr>
      <vt:lpstr>Discussion and limitations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Bitsch</dc:creator>
  <cp:lastModifiedBy>Elias Bitsch</cp:lastModifiedBy>
  <cp:revision>1</cp:revision>
  <dcterms:created xsi:type="dcterms:W3CDTF">2026-10-08T12:44:57Z</dcterms:created>
  <dcterms:modified xsi:type="dcterms:W3CDTF">2026-10-08T12:44:59Z</dcterms:modified>
</cp:coreProperties>
</file>